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 b="1">
                <a:solidFill>
                  <a:srgbClr val="2A2A2A"/>
                </a:solidFill>
                <a:latin typeface="Arial"/>
              </a:defRPr>
            </a:pPr>
            <a:r>
              <a:t>AFFILISTAY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4457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5400" b="1">
                <a:solidFill>
                  <a:srgbClr val="2A2A2A"/>
                </a:solidFill>
                <a:latin typeface="Malgun Gothic"/>
              </a:defRPr>
            </a:pPr>
            <a:r>
              <a:t>공식 파트너십 제안서</a:t>
            </a:r>
          </a:p>
          <a:p>
            <a:pPr algn="ctr">
              <a:defRPr sz="2400">
                <a:solidFill>
                  <a:srgbClr val="B0A295"/>
                </a:solidFill>
                <a:latin typeface="Malgun Gothic"/>
              </a:defRPr>
            </a:pPr>
            <a:r>
              <a:t>머무는 공간을 브랜드의 프라이빗 쇼룸으로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 b="1">
                <a:solidFill>
                  <a:srgbClr val="2A2A2A"/>
                </a:solidFill>
                <a:latin typeface="Arial"/>
              </a:defRPr>
            </a:pPr>
            <a:r>
              <a:t>AFFILISTAY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A2A2A"/>
                </a:solidFill>
                <a:latin typeface="Malgun Gothic"/>
              </a:defRPr>
            </a:pPr>
            <a:r>
              <a:t>01. 마케팅의 한계: 휘발되는 1초, 막대한 비용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solidFill>
                  <a:srgbClr val="2A2A2A"/>
                </a:solidFill>
                <a:latin typeface="Malgun Gothic"/>
              </a:defRPr>
            </a:pPr>
            <a:r>
              <a:t>■ 온라인 광고 (SNS, 배너)</a:t>
            </a:r>
          </a:p>
          <a:p>
            <a:pPr>
              <a:defRPr sz="1800">
                <a:solidFill>
                  <a:srgbClr val="646464"/>
                </a:solidFill>
                <a:latin typeface="Malgun Gothic"/>
              </a:defRPr>
            </a:pPr>
            <a:r>
              <a:t>   유저의 체류 시간은 불과 '1초'. 쉽게 스크롤되어 잊혀지는 휘발성 마케팅이자 갈수록 높아지는 고객 획득 비용(CAC).</a:t>
            </a:r>
            <a:br/>
          </a:p>
          <a:p>
            <a:pPr>
              <a:defRPr sz="2200" b="1">
                <a:solidFill>
                  <a:srgbClr val="2A2A2A"/>
                </a:solidFill>
                <a:latin typeface="Malgun Gothic"/>
              </a:defRPr>
            </a:pPr>
            <a:r>
              <a:t>■ 오프라인 팝업 스토어</a:t>
            </a:r>
          </a:p>
          <a:p>
            <a:pPr>
              <a:defRPr sz="1800">
                <a:solidFill>
                  <a:srgbClr val="646464"/>
                </a:solidFill>
                <a:latin typeface="Malgun Gothic"/>
              </a:defRPr>
            </a:pPr>
            <a:r>
              <a:t>   수천만 원의 대관료와 인테리어 비용. 수많은 인파 속에서 고객이 제품의 진짜 가치를 느끼기엔 턱없이 부족한 시간(평균 15분).</a:t>
            </a:r>
            <a:b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 b="1">
                <a:solidFill>
                  <a:srgbClr val="2A2A2A"/>
                </a:solidFill>
                <a:latin typeface="Arial"/>
              </a:defRPr>
            </a:pPr>
            <a:r>
              <a:t>AFFILISTAY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A2A2A"/>
                </a:solidFill>
                <a:latin typeface="Malgun Gothic"/>
              </a:defRPr>
            </a:pPr>
            <a:r>
              <a:t>02. THE STAY AS A SHOWROOM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B0A295"/>
                </a:solidFill>
                <a:latin typeface="Malgun Gothic"/>
              </a:defRPr>
            </a:pPr>
            <a:r>
              <a:t>"인위적인 광고가 아닌, 24시간 동안 고객의 일상에 스며듭니다."</a:t>
            </a:r>
          </a:p>
          <a:p>
            <a:br/>
            <a:pPr>
              <a:defRPr sz="2000">
                <a:solidFill>
                  <a:srgbClr val="2A2A2A"/>
                </a:solidFill>
                <a:latin typeface="Malgun Gothic"/>
              </a:defRPr>
            </a:pPr>
            <a:r>
              <a:t>프리미엄 숙소 객실을 고관여 큐레이션 쇼룸으로 활용합니다.</a:t>
            </a:r>
            <a:br/>
            <a:r>
              <a:t>가장 편안한 휴식 공간에서, 고객은 당신의 제품을 '광고'가 아닌 '여행의 경험'으로 발견합니다.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 b="1">
                <a:solidFill>
                  <a:srgbClr val="2A2A2A"/>
                </a:solidFill>
                <a:latin typeface="Arial"/>
              </a:defRPr>
            </a:pPr>
            <a:r>
              <a:t>AFFILISTAY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A2A2A"/>
                </a:solidFill>
                <a:latin typeface="Malgun Gothic"/>
              </a:defRPr>
            </a:pPr>
            <a:r>
              <a:t>03. 프리미엄 타겟 정밀 접근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solidFill>
                  <a:srgbClr val="2A2A2A"/>
                </a:solidFill>
                <a:latin typeface="Arial"/>
              </a:defRPr>
            </a:pPr>
            <a:r>
              <a:t>✔ HIGH PURCHASING POWER</a:t>
            </a:r>
          </a:p>
          <a:p>
            <a:pPr>
              <a:defRPr sz="1800">
                <a:solidFill>
                  <a:srgbClr val="646464"/>
                </a:solidFill>
                <a:latin typeface="Malgun Gothic"/>
              </a:defRPr>
            </a:pPr>
            <a:r>
              <a:t>   프리미엄 숙소를 이용하는 투숙객은 인테리어와 라이프스타일에 대한 소비를 아끼지 않는 검증된 2030 밀레니얼 세대입니다.</a:t>
            </a:r>
            <a:br/>
          </a:p>
          <a:p>
            <a:pPr>
              <a:defRPr sz="2200" b="1">
                <a:solidFill>
                  <a:srgbClr val="2A2A2A"/>
                </a:solidFill>
                <a:latin typeface="Arial"/>
              </a:defRPr>
            </a:pPr>
            <a:r>
              <a:t>✔ 100% RECEPTIVE MOOD</a:t>
            </a:r>
          </a:p>
          <a:p>
            <a:pPr>
              <a:defRPr sz="1800">
                <a:solidFill>
                  <a:srgbClr val="646464"/>
                </a:solidFill>
                <a:latin typeface="Malgun Gothic"/>
              </a:defRPr>
            </a:pPr>
            <a:r>
              <a:t>   일상의 스트레스에서 벗어나 휴식 모드에 들어간 고객은 새로운 브랜드와 제품을 수용할 가능성이 오프라인 매장 대비 300% 이상 높습니다.</a:t>
            </a:r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 b="1">
                <a:solidFill>
                  <a:srgbClr val="2A2A2A"/>
                </a:solidFill>
                <a:latin typeface="Arial"/>
              </a:defRPr>
            </a:pPr>
            <a:r>
              <a:t>AFFILISTAY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A2A2A"/>
                </a:solidFill>
                <a:latin typeface="Malgun Gothic"/>
              </a:defRPr>
            </a:pPr>
            <a:r>
              <a:t>04. 1인당 단가 1,000원의 매직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2377440"/>
          <a:ext cx="94183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2926080"/>
                <a:gridCol w="2651760"/>
              </a:tblGrid>
              <a:tr h="502920">
                <a:tc>
                  <a:txBody>
                    <a:bodyPr/>
                    <a:lstStyle/>
                    <a:p>
                      <a:pPr>
                        <a:defRPr sz="1600" b="1">
                          <a:latin typeface="Malgun Gothic"/>
                        </a:defRPr>
                      </a:pPr>
                      <a:r>
                        <a:t>매체 구분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Malgun Gothic"/>
                        </a:defRPr>
                      </a:pPr>
                      <a:r>
                        <a:t>주요 지표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Malgun Gothic"/>
                        </a:defRPr>
                      </a:pPr>
                      <a:r>
                        <a:t>1인당 단가(CPA)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Malgun Gothic"/>
                        </a:defRPr>
                      </a:pPr>
                      <a:r>
                        <a:t>경험 시간 및 질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latin typeface="Malgun Gothic"/>
                        </a:defRPr>
                      </a:pPr>
                      <a:r>
                        <a:t>단기 팝업 스토어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Malgun Gothic"/>
                        </a:defRPr>
                      </a:pPr>
                      <a:r>
                        <a:t>현장 방문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Malgun Gothic"/>
                        </a:defRPr>
                      </a:pPr>
                      <a:r>
                        <a:t>5,000원 ~ 10,000원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Malgun Gothic"/>
                        </a:defRPr>
                      </a:pPr>
                      <a:r>
                        <a:t>15분 단순 관람 (효율 미진)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latin typeface="Malgun Gothic"/>
                        </a:defRPr>
                      </a:pPr>
                      <a:r>
                        <a:t>온라인 광고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Malgun Gothic"/>
                        </a:defRPr>
                      </a:pPr>
                      <a:r>
                        <a:t>클릭 및 전환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Malgun Gothic"/>
                        </a:defRPr>
                      </a:pPr>
                      <a:r>
                        <a:t>1,200원 ~ 1,700원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Malgun Gothic"/>
                        </a:defRPr>
                      </a:pPr>
                      <a:r>
                        <a:t>1초 스크린 노출 (높은 이탈)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786450"/>
                          </a:solidFill>
                          <a:latin typeface="Malgun Gothic"/>
                        </a:defRPr>
                      </a:pPr>
                      <a:r>
                        <a:t>어필리스테이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786450"/>
                          </a:solidFill>
                          <a:latin typeface="Malgun Gothic"/>
                        </a:defRPr>
                      </a:pPr>
                      <a:r>
                        <a:t>1박 2일 투숙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786450"/>
                          </a:solidFill>
                          <a:latin typeface="Malgun Gothic"/>
                        </a:defRPr>
                      </a:pPr>
                      <a:r>
                        <a:t>1,000원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786450"/>
                          </a:solidFill>
                          <a:latin typeface="Malgun Gothic"/>
                        </a:defRPr>
                      </a:pPr>
                      <a:r>
                        <a:t>최소 24시간 실생활 밀착 체험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 b="1">
                <a:solidFill>
                  <a:srgbClr val="2A2A2A"/>
                </a:solidFill>
                <a:latin typeface="Arial"/>
              </a:defRPr>
            </a:pPr>
            <a:r>
              <a:t>AFFILISTAY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A2A2A"/>
                </a:solidFill>
                <a:latin typeface="Malgun Gothic"/>
              </a:defRPr>
            </a:pPr>
            <a:r>
              <a:t>05. 월 5만 원으로 얻는 비즈니스 임팩트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 b="1">
                <a:solidFill>
                  <a:srgbClr val="B0A295"/>
                </a:solidFill>
                <a:latin typeface="Malgun Gothic"/>
              </a:defRPr>
            </a:pPr>
            <a:r>
              <a:t>▶ 노출 및 체류 보장</a:t>
            </a:r>
          </a:p>
          <a:p>
            <a:pPr>
              <a:defRPr sz="1600">
                <a:solidFill>
                  <a:srgbClr val="2A2A2A"/>
                </a:solidFill>
                <a:latin typeface="Malgun Gothic"/>
              </a:defRPr>
            </a:pPr>
            <a:r>
              <a:t>   숙소 1개 패키지 투숙객(월 약 50명) 기준 총 1,200시간의 깊은 브랜드 노출 보장.</a:t>
            </a:r>
            <a:br/>
          </a:p>
          <a:p>
            <a:pPr>
              <a:defRPr sz="2000" b="1">
                <a:solidFill>
                  <a:srgbClr val="B0A295"/>
                </a:solidFill>
                <a:latin typeface="Malgun Gothic"/>
              </a:defRPr>
            </a:pPr>
            <a:r>
              <a:t>▶ 자발적 바이럴 (UGC)</a:t>
            </a:r>
          </a:p>
          <a:p>
            <a:pPr>
              <a:defRPr sz="1600">
                <a:solidFill>
                  <a:srgbClr val="2A2A2A"/>
                </a:solidFill>
                <a:latin typeface="Malgun Gothic"/>
              </a:defRPr>
            </a:pPr>
            <a:r>
              <a:t>   감성 숙소를 배경으로 한 사진 속에 제품이 노출되어, 인스타그램 등에서 무료 바이럴 효과 발생.</a:t>
            </a:r>
            <a:br/>
          </a:p>
          <a:p>
            <a:pPr>
              <a:defRPr sz="2000" b="1">
                <a:solidFill>
                  <a:srgbClr val="B0A295"/>
                </a:solidFill>
                <a:latin typeface="Malgun Gothic"/>
              </a:defRPr>
            </a:pPr>
            <a:r>
              <a:t>▶ 매출 직결 테스트 베드</a:t>
            </a:r>
          </a:p>
          <a:p>
            <a:pPr>
              <a:defRPr sz="1600">
                <a:solidFill>
                  <a:srgbClr val="2A2A2A"/>
                </a:solidFill>
                <a:latin typeface="Malgun Gothic"/>
              </a:defRPr>
            </a:pPr>
            <a:r>
              <a:t>   비싼 매장을 오픈하지 않고도 제품의 실제 시장 반응(QR 스캔 율)을 수치화하여 확인할 수 있음.</a:t>
            </a:r>
            <a:b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 b="1">
                <a:solidFill>
                  <a:srgbClr val="2A2A2A"/>
                </a:solidFill>
                <a:latin typeface="Arial"/>
              </a:defRPr>
            </a:pPr>
            <a:r>
              <a:t>AFFILISTAY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A2A2A"/>
                </a:solidFill>
                <a:latin typeface="Malgun Gothic"/>
              </a:defRPr>
            </a:pPr>
            <a:r>
              <a:t>06. 단절 없는 구매 전환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29260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000">
                <a:solidFill>
                  <a:srgbClr val="2A2A2A"/>
                </a:solidFill>
                <a:latin typeface="Malgun Gothic"/>
              </a:defRPr>
            </a:pPr>
            <a:r>
              <a:t>STEP 1. 공간에서의 교감</a:t>
            </a:r>
          </a:p>
          <a:p>
            <a:br/>
            <a:pPr>
              <a:defRPr sz="1500">
                <a:solidFill>
                  <a:srgbClr val="646464"/>
                </a:solidFill>
                <a:latin typeface="Malgun Gothic"/>
              </a:defRPr>
            </a:pPr>
            <a:r>
              <a:t>아름다운 공간과 조화롭게 연출된 제품을</a:t>
            </a:r>
            <a:br/>
            <a:r>
              <a:t>자연스럽게 사용하고 만족감을 느낍니다.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926080"/>
            <a:ext cx="29260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000">
                <a:solidFill>
                  <a:srgbClr val="2A2A2A"/>
                </a:solidFill>
                <a:latin typeface="Malgun Gothic"/>
              </a:defRPr>
            </a:pPr>
            <a:r>
              <a:t>STEP 2. QR 코드 스캔</a:t>
            </a:r>
          </a:p>
          <a:p>
            <a:br/>
            <a:pPr>
              <a:defRPr sz="1500">
                <a:solidFill>
                  <a:srgbClr val="646464"/>
                </a:solidFill>
                <a:latin typeface="Malgun Gothic"/>
              </a:defRPr>
            </a:pPr>
            <a:r>
              <a:t>제품 옆 위치한 세련된 큐레이션 카드의 QR을</a:t>
            </a:r>
            <a:br/>
            <a:r>
              <a:t>통해 제품의 스토리를 스텔스 마케팅합니다.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926080"/>
            <a:ext cx="29260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000">
                <a:solidFill>
                  <a:srgbClr val="2A2A2A"/>
                </a:solidFill>
                <a:latin typeface="Malgun Gothic"/>
              </a:defRPr>
            </a:pPr>
            <a:r>
              <a:t>STEP 3. 즉각적인 구매 전환</a:t>
            </a:r>
          </a:p>
          <a:p>
            <a:br/>
            <a:pPr>
              <a:defRPr sz="1500">
                <a:solidFill>
                  <a:srgbClr val="646464"/>
                </a:solidFill>
                <a:latin typeface="Malgun Gothic"/>
              </a:defRPr>
            </a:pPr>
            <a:r>
              <a:t>여행지에서의 긍정적 감정이 유효할 때,</a:t>
            </a:r>
            <a:br/>
            <a:r>
              <a:t>플랫폼 특별가로 바로 구매를 완료합니다.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 b="1">
                <a:solidFill>
                  <a:srgbClr val="2A2A2A"/>
                </a:solidFill>
                <a:latin typeface="Arial"/>
              </a:defRPr>
            </a:pPr>
            <a:r>
              <a:t>AFFILISTAY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A2A2A"/>
                </a:solidFill>
                <a:latin typeface="Malgun Gothic"/>
              </a:defRPr>
            </a:pPr>
            <a:r>
              <a:t>07. 투명한 상생 비즈니스 모델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700">
                <a:solidFill>
                  <a:srgbClr val="2A2A2A"/>
                </a:solidFill>
                <a:latin typeface="Malgun Gothic"/>
              </a:defRPr>
            </a:pPr>
            <a:r>
              <a:t>■ 게스트 (Guest) (5%) : </a:t>
            </a:r>
            <a:r>
              <a:rPr b="0" sz="1500">
                <a:solidFill>
                  <a:srgbClr val="505050"/>
                </a:solidFill>
              </a:rPr>
              <a:t>제품 체험 후 정가 대비 5% 추가 하향된 최저가 혜택 (전환율 극대화)</a:t>
            </a:r>
          </a:p>
          <a:p>
            <a:pPr>
              <a:defRPr b="1" sz="1700">
                <a:solidFill>
                  <a:srgbClr val="2A2A2A"/>
                </a:solidFill>
                <a:latin typeface="Malgun Gothic"/>
              </a:defRPr>
            </a:pPr>
            <a:r>
              <a:t>■ 호스트 (Host) (5%) : </a:t>
            </a:r>
            <a:r>
              <a:rPr b="0" sz="1500">
                <a:solidFill>
                  <a:srgbClr val="505050"/>
                </a:solidFill>
              </a:rPr>
              <a:t>프리미엄 공간 대여 및 제품 유지 관리에 따른 파이프라인 수익</a:t>
            </a:r>
          </a:p>
          <a:p>
            <a:pPr>
              <a:defRPr b="1" sz="1700">
                <a:solidFill>
                  <a:srgbClr val="2A2A2A"/>
                </a:solidFill>
                <a:latin typeface="Malgun Gothic"/>
              </a:defRPr>
            </a:pPr>
            <a:r>
              <a:t>■ 어필리스테이 (5%) : </a:t>
            </a:r>
            <a:r>
              <a:rPr b="0" sz="1500">
                <a:solidFill>
                  <a:srgbClr val="505050"/>
                </a:solidFill>
              </a:rPr>
              <a:t>플랫폼 유지, 호스트-브랜드사 데이터 매칭 및 솔루션 수수료</a:t>
            </a:r>
          </a:p>
          <a:p>
            <a:pPr>
              <a:defRPr b="1" sz="1700">
                <a:solidFill>
                  <a:srgbClr val="2A2A2A"/>
                </a:solidFill>
                <a:latin typeface="Malgun Gothic"/>
              </a:defRPr>
            </a:pPr>
            <a:r>
              <a:t>■ 협찬 브랜드 파트너 (85%+) : </a:t>
            </a:r>
            <a:r>
              <a:rPr b="0" sz="1500">
                <a:solidFill>
                  <a:srgbClr val="505050"/>
                </a:solidFill>
              </a:rPr>
              <a:t>중간 유통 마진 없이 압도적인 판매 수익 및 고퀄리티 고객 경험 확보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84632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>
                <a:solidFill>
                  <a:srgbClr val="B0A295"/>
                </a:solidFill>
                <a:latin typeface="Arial"/>
              </a:defRPr>
            </a:pPr>
            <a:r>
              <a:t>BUSINESS CONTACT &amp; OUTREACH</a:t>
            </a:r>
          </a:p>
          <a:p>
            <a:pPr>
              <a:defRPr sz="1500">
                <a:latin typeface="Malgun Gothic"/>
              </a:defRPr>
            </a:pPr>
            <a:r>
              <a:t>대표자: 최장우</a:t>
            </a:r>
            <a:br/>
            <a:r>
              <a:t>이메일: jwchoi1207@naver.com</a:t>
            </a:r>
            <a:br/>
            <a:r>
              <a:t>연락처: 010-4670-5097</a:t>
            </a:r>
            <a:br/>
            <a:r>
              <a:t>온라인 쇼룸: affilistay-showroom.onrender.com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