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 b="1">
                <a:solidFill>
                  <a:srgbClr val="2A2A2A"/>
                </a:solidFill>
                <a:latin typeface="Arial"/>
              </a:defRPr>
            </a:pPr>
            <a:r>
              <a:t>AFFILISTAY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4457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5400" b="1">
                <a:solidFill>
                  <a:srgbClr val="2A2A2A"/>
                </a:solidFill>
                <a:latin typeface="Malgun Gothic"/>
              </a:defRPr>
            </a:pPr>
            <a:r>
              <a:t>협찬 파트너십 제안서</a:t>
            </a:r>
          </a:p>
          <a:p>
            <a:pPr algn="ctr">
              <a:defRPr sz="2400">
                <a:solidFill>
                  <a:srgbClr val="B0A295"/>
                </a:solidFill>
                <a:latin typeface="Malgun Gothic"/>
              </a:defRPr>
            </a:pPr>
            <a:r>
              <a:t>머무는 공간을 브랜드의 쇼룸으로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 b="1">
                <a:solidFill>
                  <a:srgbClr val="2A2A2A"/>
                </a:solidFill>
                <a:latin typeface="Arial"/>
              </a:defRPr>
            </a:pPr>
            <a:r>
              <a:t>AFFILISTAY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2A2A2A"/>
                </a:solidFill>
                <a:latin typeface="Malgun Gothic"/>
              </a:defRPr>
            </a:pPr>
            <a:r>
              <a:t>01. 압도적인 광고 효율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2560320"/>
          <a:ext cx="94183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011680"/>
                <a:gridCol w="2926080"/>
                <a:gridCol w="2651760"/>
              </a:tblGrid>
              <a:tr h="502920">
                <a:tc>
                  <a:txBody>
                    <a:bodyPr/>
                    <a:lstStyle/>
                    <a:p>
                      <a:pPr>
                        <a:defRPr sz="1600" b="1">
                          <a:latin typeface="Malgun Gothic"/>
                        </a:defRPr>
                      </a:pPr>
                      <a:r>
                        <a:t>매체 구분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Malgun Gothic"/>
                        </a:defRPr>
                      </a:pPr>
                      <a:r>
                        <a:t>주요 지표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Malgun Gothic"/>
                        </a:defRPr>
                      </a:pPr>
                      <a:r>
                        <a:t>1인당 단가(CPA)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latin typeface="Malgun Gothic"/>
                        </a:defRPr>
                      </a:pPr>
                      <a:r>
                        <a:t>경험 시간 및 퀄리티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>
                          <a:latin typeface="Malgun Gothic"/>
                        </a:defRPr>
                      </a:pPr>
                      <a:r>
                        <a:t>오프라인 팝업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Malgun Gothic"/>
                        </a:defRPr>
                      </a:pPr>
                      <a:r>
                        <a:t>현장 방문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Malgun Gothic"/>
                        </a:defRPr>
                      </a:pPr>
                      <a:r>
                        <a:t>약 5,000원 ~ 10,000원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Malgun Gothic"/>
                        </a:defRPr>
                      </a:pPr>
                      <a:r>
                        <a:t>15분 단순 관람 (효율 낮음)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>
                          <a:latin typeface="Malgun Gothic"/>
                        </a:defRPr>
                      </a:pPr>
                      <a:r>
                        <a:t>SNS 배너 광고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Malgun Gothic"/>
                        </a:defRPr>
                      </a:pPr>
                      <a:r>
                        <a:t>링크 클릭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Malgun Gothic"/>
                        </a:defRPr>
                      </a:pPr>
                      <a:r>
                        <a:t>약 1,200원 ~ 1,700원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latin typeface="Malgun Gothic"/>
                        </a:defRPr>
                      </a:pPr>
                      <a:r>
                        <a:t>1초 스크린 노출 (휘발성 높음)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786450"/>
                          </a:solidFill>
                          <a:latin typeface="Malgun Gothic"/>
                        </a:defRPr>
                      </a:pPr>
                      <a:r>
                        <a:t>어필리스테이</a:t>
                      </a:r>
                    </a:p>
                  </a:txBody>
                  <a:tcPr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786450"/>
                          </a:solidFill>
                          <a:latin typeface="Malgun Gothic"/>
                        </a:defRPr>
                      </a:pPr>
                      <a:r>
                        <a:t>1박 2일 투숙</a:t>
                      </a:r>
                    </a:p>
                  </a:txBody>
                  <a:tcPr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786450"/>
                          </a:solidFill>
                          <a:latin typeface="Malgun Gothic"/>
                        </a:defRPr>
                      </a:pPr>
                      <a:r>
                        <a:t>1,000원</a:t>
                      </a:r>
                    </a:p>
                  </a:txBody>
                  <a:tcPr>
                    <a:solidFill>
                      <a:srgbClr val="F5F0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786450"/>
                          </a:solidFill>
                          <a:latin typeface="Malgun Gothic"/>
                        </a:defRPr>
                      </a:pPr>
                      <a:r>
                        <a:t>24시간 이상 실생활 밀착 체험</a:t>
                      </a:r>
                    </a:p>
                  </a:txBody>
                  <a:tcPr>
                    <a:solidFill>
                      <a:srgbClr val="F5F0E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0" y="51206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400">
                <a:solidFill>
                  <a:srgbClr val="787878"/>
                </a:solidFill>
              </a:defRPr>
            </a:pPr>
            <a:r>
              <a:t>* 산출 근거: 숙소당 패키지 단가 월 5만원 / (평균 투숙 2.5명 x 20일 기준) = 1,000원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 b="1">
                <a:solidFill>
                  <a:srgbClr val="2A2A2A"/>
                </a:solidFill>
                <a:latin typeface="Arial"/>
              </a:defRPr>
            </a:pPr>
            <a:r>
              <a:t>AFFILISTAY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2A2A2A"/>
                </a:solidFill>
                <a:latin typeface="Malgun Gothic"/>
              </a:defRPr>
            </a:pPr>
            <a:r>
              <a:t>02. 자연스러운 구매 전환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200">
                <a:solidFill>
                  <a:srgbClr val="B0A295"/>
                </a:solidFill>
                <a:latin typeface="Malgun Gothic"/>
              </a:defRPr>
            </a:pPr>
            <a:r>
              <a:t>STEP 1. 휴식 중의 발견</a:t>
            </a:r>
          </a:p>
          <a:p>
            <a:br/>
            <a:pPr>
              <a:defRPr sz="1500">
                <a:solidFill>
                  <a:srgbClr val="2A2A2A"/>
                </a:solidFill>
                <a:latin typeface="Malgun Gothic"/>
              </a:defRPr>
            </a:pPr>
            <a:r>
              <a:t>숙소 내 조화롭게 비치된 제품을</a:t>
            </a:r>
            <a:br/>
            <a:r>
              <a:t>직접 사용하고 퀄리티를 느낍니다.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292608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200">
                <a:solidFill>
                  <a:srgbClr val="B0A295"/>
                </a:solidFill>
                <a:latin typeface="Malgun Gothic"/>
              </a:defRPr>
            </a:pPr>
            <a:r>
              <a:t>STEP 2. QR 코드 Скан</a:t>
            </a:r>
          </a:p>
          <a:p>
            <a:br/>
            <a:pPr>
              <a:defRPr sz="1500">
                <a:solidFill>
                  <a:srgbClr val="2A2A2A"/>
                </a:solidFill>
                <a:latin typeface="Malgun Gothic"/>
              </a:defRPr>
            </a:pPr>
            <a:r>
              <a:t>제품 옆 감각적인 카드의 QR을 통해</a:t>
            </a:r>
            <a:br/>
            <a:r>
              <a:t>상세한 제품 스토리 및 리뷰를 확인합니다.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2926080"/>
            <a:ext cx="29260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2200">
                <a:solidFill>
                  <a:srgbClr val="B0A295"/>
                </a:solidFill>
                <a:latin typeface="Malgun Gothic"/>
              </a:defRPr>
            </a:pPr>
            <a:r>
              <a:t>STEP 3. 즉시 특별가 구매</a:t>
            </a:r>
          </a:p>
          <a:p>
            <a:br/>
            <a:pPr>
              <a:defRPr sz="1500">
                <a:solidFill>
                  <a:srgbClr val="2A2A2A"/>
                </a:solidFill>
                <a:latin typeface="Malgun Gothic"/>
              </a:defRPr>
            </a:pPr>
            <a:r>
              <a:t>어필리스테이나 브랜드 자사몰을 통해</a:t>
            </a:r>
            <a:br/>
            <a:r>
              <a:t>게스트 전용 할인가로 주문 및 배송받습니다.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 b="1">
                <a:solidFill>
                  <a:srgbClr val="2A2A2A"/>
                </a:solidFill>
                <a:latin typeface="Arial"/>
              </a:defRPr>
            </a:pPr>
            <a:r>
              <a:t>AFFILISTAY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2A2A2A"/>
                </a:solidFill>
                <a:latin typeface="Malgun Gothic"/>
              </a:defRPr>
            </a:pPr>
            <a:r>
              <a:t>03. 브랜드 상생 수익 모델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7315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>
                <a:solidFill>
                  <a:srgbClr val="2A2A2A"/>
                </a:solidFill>
                <a:latin typeface="Malgun Gothic"/>
              </a:defRPr>
            </a:pPr>
            <a:r>
              <a:t>■ 게스트 ( 5%) : </a:t>
            </a:r>
            <a:r>
              <a:rPr b="0" sz="1600">
                <a:solidFill>
                  <a:srgbClr val="505050"/>
                </a:solidFill>
              </a:rPr>
              <a:t>제품 체험 후 정가 대비 추가 5% 최저가 구매 혜택 부여</a:t>
            </a:r>
          </a:p>
          <a:p>
            <a:pPr>
              <a:defRPr b="1" sz="1800">
                <a:solidFill>
                  <a:srgbClr val="2A2A2A"/>
                </a:solidFill>
                <a:latin typeface="Malgun Gothic"/>
              </a:defRPr>
            </a:pPr>
            <a:r>
              <a:t>■ 숙소 호스트 ( 5%) : </a:t>
            </a:r>
            <a:r>
              <a:rPr b="0" sz="1600">
                <a:solidFill>
                  <a:srgbClr val="505050"/>
                </a:solidFill>
              </a:rPr>
              <a:t>공간에서의 제품 경험 및 훼손 관리에 대한 보상 수익</a:t>
            </a:r>
          </a:p>
          <a:p>
            <a:pPr>
              <a:defRPr b="1" sz="1800">
                <a:solidFill>
                  <a:srgbClr val="2A2A2A"/>
                </a:solidFill>
                <a:latin typeface="Malgun Gothic"/>
              </a:defRPr>
            </a:pPr>
            <a:r>
              <a:t>■ 어필리스테이 ( 5%) : </a:t>
            </a:r>
            <a:r>
              <a:rPr b="0" sz="1600">
                <a:solidFill>
                  <a:srgbClr val="505050"/>
                </a:solidFill>
              </a:rPr>
              <a:t>플랫폼 인프라 유지 및 큐레이션 매칭 운용 수수료</a:t>
            </a:r>
          </a:p>
          <a:p>
            <a:pPr>
              <a:defRPr b="1" sz="1800">
                <a:solidFill>
                  <a:srgbClr val="2A2A2A"/>
                </a:solidFill>
                <a:latin typeface="Malgun Gothic"/>
              </a:defRPr>
            </a:pPr>
            <a:r>
              <a:t>■ 협찬 브랜드 (85%+) : </a:t>
            </a:r>
            <a:r>
              <a:rPr b="0" sz="1600">
                <a:solidFill>
                  <a:srgbClr val="505050"/>
                </a:solidFill>
              </a:rPr>
              <a:t>중간 유통 마진 없이 압도적인 수익률 보장 (물류 원가 포함)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>
                <a:solidFill>
                  <a:srgbClr val="B0A295"/>
                </a:solidFill>
                <a:latin typeface="Arial"/>
              </a:defRPr>
            </a:pPr>
            <a:r>
              <a:t>BUSINESS CONTACT</a:t>
            </a:r>
          </a:p>
          <a:p>
            <a:pPr>
              <a:defRPr sz="1600">
                <a:latin typeface="Malgun Gothic"/>
              </a:defRPr>
            </a:pPr>
            <a:r>
              <a:t>대표: 최장우</a:t>
            </a:r>
            <a:br/>
            <a:r>
              <a:t>메일: jwchoi1207@naver.com</a:t>
            </a:r>
            <a:br/>
            <a:r>
              <a:t>전화: 010-4670-5097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